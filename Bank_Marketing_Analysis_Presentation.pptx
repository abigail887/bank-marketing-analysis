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7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AA4E6-E06B-422A-AE97-321AB2A3CF3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7EED3-6E4A-4A70-BA0C-1EE60CD5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0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7EED3-6E4A-4A70-BA0C-1EE60CD5B9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9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2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2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2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3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95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8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4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54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43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47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40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4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12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90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61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75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4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3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Bank Marketing Campaign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Executive summary and business insights</a:t>
            </a:r>
            <a:endParaRPr lang="en-US" dirty="0"/>
          </a:p>
          <a:p>
            <a:r>
              <a:rPr lang="en-US" dirty="0" err="1"/>
              <a:t>PrePARED</a:t>
            </a:r>
            <a:r>
              <a:rPr lang="en-US" dirty="0"/>
              <a:t> BY: ABIGAIL BANTANG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Objective: Understand factors influencing customer subscriptions.</a:t>
            </a:r>
          </a:p>
          <a:p>
            <a:r>
              <a:rPr dirty="0"/>
              <a:t>Tools: P</a:t>
            </a:r>
            <a:r>
              <a:rPr lang="en-US" dirty="0"/>
              <a:t>andas, Seaborn and Matplotlib </a:t>
            </a:r>
            <a:r>
              <a:rPr dirty="0"/>
              <a:t>.</a:t>
            </a:r>
          </a:p>
          <a:p>
            <a:r>
              <a:rPr dirty="0"/>
              <a:t>Business Questions</a:t>
            </a:r>
            <a:r>
              <a:rPr lang="en-US" dirty="0"/>
              <a:t> :</a:t>
            </a:r>
          </a:p>
          <a:p>
            <a:r>
              <a:rPr lang="en-US" dirty="0"/>
              <a:t>1. Who subscribes?</a:t>
            </a:r>
          </a:p>
          <a:p>
            <a:r>
              <a:rPr lang="en-US" dirty="0"/>
              <a:t>2. Do more calls help?</a:t>
            </a:r>
          </a:p>
          <a:p>
            <a:r>
              <a:rPr lang="en-US" dirty="0"/>
              <a:t>3. Do longer calls help?</a:t>
            </a:r>
          </a:p>
          <a:p>
            <a:r>
              <a:rPr lang="en-US" dirty="0"/>
              <a:t>4. Which months work best?</a:t>
            </a:r>
          </a:p>
          <a:p>
            <a:r>
              <a:rPr lang="en-US" dirty="0"/>
              <a:t>5.Does past campaign </a:t>
            </a:r>
            <a:r>
              <a:rPr lang="en-US"/>
              <a:t>history matter?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Overall Subscription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6015037"/>
            <a:ext cx="8181997" cy="1000125"/>
          </a:xfrm>
        </p:spPr>
        <p:txBody>
          <a:bodyPr>
            <a:normAutofit/>
          </a:bodyPr>
          <a:lstStyle/>
          <a:p>
            <a:r>
              <a:rPr lang="en-US" dirty="0"/>
              <a:t>5,289 subscribed out of 45,211 customers.</a:t>
            </a:r>
          </a:p>
          <a:p>
            <a:r>
              <a:rPr lang="en-US" dirty="0"/>
              <a:t>Subscription rate: 11.7%.</a:t>
            </a:r>
          </a:p>
          <a:p>
            <a:endParaRPr dirty="0"/>
          </a:p>
        </p:txBody>
      </p:sp>
      <p:pic>
        <p:nvPicPr>
          <p:cNvPr id="4" name="Picture 3" descr="Slid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1714500"/>
            <a:ext cx="8046720" cy="4300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Who Subscribes by Job Type and 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6115050"/>
            <a:ext cx="8046720" cy="742950"/>
          </a:xfrm>
        </p:spPr>
        <p:txBody>
          <a:bodyPr>
            <a:normAutofit/>
          </a:bodyPr>
          <a:lstStyle/>
          <a:p>
            <a:r>
              <a:rPr lang="en-US" dirty="0"/>
              <a:t>Students and retirees showed the highest subscription rates.</a:t>
            </a:r>
          </a:p>
          <a:p>
            <a:endParaRPr dirty="0"/>
          </a:p>
        </p:txBody>
      </p:sp>
      <p:pic>
        <p:nvPicPr>
          <p:cNvPr id="4" name="Picture 3" descr="Slid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1853248"/>
            <a:ext cx="8046720" cy="4195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Calling More Times Help?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6129338"/>
            <a:ext cx="6711654" cy="728662"/>
          </a:xfrm>
        </p:spPr>
        <p:txBody>
          <a:bodyPr>
            <a:normAutofit/>
          </a:bodyPr>
          <a:lstStyle/>
          <a:p>
            <a:r>
              <a:rPr lang="en-US" dirty="0"/>
              <a:t>Subscription rates generally declined as contact frequency increased.</a:t>
            </a:r>
          </a:p>
          <a:p>
            <a:endParaRPr dirty="0"/>
          </a:p>
        </p:txBody>
      </p:sp>
      <p:pic>
        <p:nvPicPr>
          <p:cNvPr id="4" name="Picture 3" descr="Slide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1933858"/>
            <a:ext cx="8046720" cy="4195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Do Longer Calls Lead to Subscriptions?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5929313"/>
            <a:ext cx="6711654" cy="814387"/>
          </a:xfrm>
        </p:spPr>
        <p:txBody>
          <a:bodyPr/>
          <a:lstStyle/>
          <a:p>
            <a:r>
              <a:rPr lang="en-US" dirty="0"/>
              <a:t>Subscribers had much longer call durations than non-subscribers.</a:t>
            </a:r>
          </a:p>
          <a:p>
            <a:endParaRPr dirty="0"/>
          </a:p>
        </p:txBody>
      </p:sp>
      <p:pic>
        <p:nvPicPr>
          <p:cNvPr id="4" name="Picture 3" descr="Slide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86" y="1733833"/>
            <a:ext cx="7746682" cy="4195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700" y="470945"/>
            <a:ext cx="6343202" cy="709865"/>
          </a:xfrm>
        </p:spPr>
        <p:txBody>
          <a:bodyPr/>
          <a:lstStyle/>
          <a:p>
            <a:r>
              <a:rPr dirty="0"/>
              <a:t>Which Months Perform Best?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5672138"/>
            <a:ext cx="7602900" cy="957262"/>
          </a:xfrm>
        </p:spPr>
        <p:txBody>
          <a:bodyPr/>
          <a:lstStyle/>
          <a:p>
            <a:r>
              <a:rPr lang="en-US" dirty="0"/>
              <a:t>March, September, October and December had the highest subscription rates.</a:t>
            </a:r>
          </a:p>
          <a:p>
            <a:endParaRPr dirty="0"/>
          </a:p>
        </p:txBody>
      </p:sp>
      <p:pic>
        <p:nvPicPr>
          <p:cNvPr id="4" name="Picture 3" descr="Slid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80" y="1180810"/>
            <a:ext cx="8046720" cy="4395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F1B4-9F8A-4762-AEB8-F56DF134B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5826" y="750093"/>
            <a:ext cx="5957888" cy="778669"/>
          </a:xfrm>
        </p:spPr>
        <p:txBody>
          <a:bodyPr/>
          <a:lstStyle/>
          <a:p>
            <a:r>
              <a:rPr lang="en-US" sz="3600" dirty="0"/>
              <a:t>Whether past campaign history matters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B08EE-750D-4F9B-B9A9-DFEFE5039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038" y="5895975"/>
            <a:ext cx="8096037" cy="466726"/>
          </a:xfrm>
        </p:spPr>
        <p:txBody>
          <a:bodyPr>
            <a:normAutofit fontScale="62500" lnSpcReduction="20000"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</a:rPr>
              <a:t>Customers who said yes in a previous campaign subscribe at 64.7% — nearly 6 times the overall rate. The bank should </a:t>
            </a:r>
            <a:r>
              <a:rPr lang="en-US" b="0" i="0" dirty="0" err="1">
                <a:solidFill>
                  <a:srgbClr val="1F1F1F"/>
                </a:solidFill>
                <a:effectLst/>
              </a:rPr>
              <a:t>prioritise</a:t>
            </a:r>
            <a:r>
              <a:rPr lang="en-US" b="0" i="0" dirty="0">
                <a:solidFill>
                  <a:srgbClr val="1F1F1F"/>
                </a:solidFill>
                <a:effectLst/>
              </a:rPr>
              <a:t> re-contacting customers who previously subscribed.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436BC-43A0-4225-BF51-6FA06F325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38" y="1528762"/>
            <a:ext cx="8096037" cy="436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9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Overall subscription rate is 11.7%.</a:t>
            </a:r>
          </a:p>
          <a:p>
            <a:r>
              <a:t>• Students and retirees show the highest conversion rates.</a:t>
            </a:r>
          </a:p>
          <a:p>
            <a:r>
              <a:t>• Longer call durations are strongly associated with subscriptions.</a:t>
            </a:r>
          </a:p>
          <a:p>
            <a:r>
              <a:t>• Excessive contact attempts do not improve outcomes.</a:t>
            </a:r>
          </a:p>
          <a:p>
            <a:r>
              <a:t>• March, September, October, and December had the strongest subscription rates.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Target high-performing customer segments.</a:t>
            </a:r>
          </a:p>
          <a:p>
            <a:r>
              <a:rPr dirty="0"/>
              <a:t>• Focus on quality conversations rather than frequent contacts.</a:t>
            </a:r>
          </a:p>
          <a:p>
            <a:r>
              <a:rPr dirty="0"/>
              <a:t>• Allocate campaigns to high-performing months.</a:t>
            </a:r>
          </a:p>
          <a:p>
            <a:r>
              <a:rPr dirty="0"/>
              <a:t>• Use call duration and engagement indicators for lead scoring.</a:t>
            </a:r>
          </a:p>
          <a:p>
            <a:r>
              <a:rPr dirty="0"/>
              <a:t>•</a:t>
            </a:r>
            <a:r>
              <a:rPr lang="en-US" dirty="0"/>
              <a:t>Bank should </a:t>
            </a:r>
            <a:r>
              <a:rPr lang="en-US" dirty="0" err="1"/>
              <a:t>priotise</a:t>
            </a:r>
            <a:r>
              <a:rPr lang="en-US" dirty="0"/>
              <a:t> re-contacting customers who previously subscribed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analysis identifies key customer, operational, and seasonal drivers of subscriptions. Applying these insights can improve campaign efficiency, customer targeting, and </a:t>
            </a:r>
            <a:r>
              <a:rPr lang="en-US" dirty="0"/>
              <a:t>subscription</a:t>
            </a:r>
            <a:r>
              <a:rPr dirty="0"/>
              <a:t> rates.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379</TotalTime>
  <Words>317</Words>
  <Application>Microsoft Office PowerPoint</Application>
  <PresentationFormat>On-screen Show (4:3)</PresentationFormat>
  <Paragraphs>40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 Boardroom</vt:lpstr>
      <vt:lpstr>Bank Marketing Campaign Analysis</vt:lpstr>
      <vt:lpstr>Project Overview</vt:lpstr>
      <vt:lpstr>Overall Subscription Performance</vt:lpstr>
      <vt:lpstr>Who Subscribes by Job Type and Age?</vt:lpstr>
      <vt:lpstr>Does Calling More Times Help?</vt:lpstr>
      <vt:lpstr>Do Longer Calls Lead to Subscriptions?</vt:lpstr>
      <vt:lpstr>Which Months Perform Best?</vt:lpstr>
      <vt:lpstr>Whether past campaign history matters</vt:lpstr>
      <vt:lpstr>Key Findings</vt:lpstr>
      <vt:lpstr>Recommendations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Campaign Analysis</dc:title>
  <dc:subject/>
  <dc:creator>Abigail Bantang</dc:creator>
  <cp:keywords/>
  <dc:description>generated using python-pptx</dc:description>
  <cp:lastModifiedBy>Abigail Bantang</cp:lastModifiedBy>
  <cp:revision>14</cp:revision>
  <dcterms:created xsi:type="dcterms:W3CDTF">2013-01-27T09:14:16Z</dcterms:created>
  <dcterms:modified xsi:type="dcterms:W3CDTF">2026-06-28T21:09:17Z</dcterms:modified>
  <cp:category/>
</cp:coreProperties>
</file>